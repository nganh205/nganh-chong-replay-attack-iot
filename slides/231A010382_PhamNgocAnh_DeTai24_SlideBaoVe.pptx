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463040"/>
            <a:ext cx="4114800" cy="4114800"/>
          </a:xfrm>
          <a:prstGeom prst="ellipse">
            <a:avLst/>
          </a:prstGeom>
          <a:solidFill>
            <a:srgbClr val="293B5F"/>
          </a:solidFill>
          <a:ln/>
        </p:spPr>
      </p:sp>
      <p:sp>
        <p:nvSpPr>
          <p:cNvPr id="4" name="Shape 2"/>
          <p:cNvSpPr/>
          <p:nvPr/>
        </p:nvSpPr>
        <p:spPr>
          <a:xfrm>
            <a:off x="10725912" y="4480560"/>
            <a:ext cx="2743200" cy="2743200"/>
          </a:xfrm>
          <a:prstGeom prst="ellipse">
            <a:avLst/>
          </a:prstGeom>
          <a:solidFill>
            <a:srgbClr val="1A2A5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24 · HƯỚNG D · BẢO MẬT IoT (INT4410)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Chống Replay Attack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trong Giao tiếp IoT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phòng thủ đa lớp Timestamp + Sequence Number + Nonce + HMAC-SHA256 cho hệ thống khóa cửa IoT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25400">
            <a:solidFill>
              <a:srgbClr val="00B8A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74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Ngọc Anh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MSSV 231A010382   ·   Lớp 253INT441001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Hồ Nhựt Minh   ·   Buổi 06 – Bảo vệ cuối kỳ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VẤN ĐỀ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Khóa cửa IoT và nguy cơ bị điều khiển từ xa trái phép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khóa cửa IoT nhận lệnh UNLOCK/LOCK qua mạng không dây (Wi-Fi/MQTT).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bản tin lệnh không có cơ chế chống lặp lại,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kẻ tấn công chỉ cần bắt và gửi lại (replay) đúng gói tin hợp lệ trước đó là có thể mở khóa trái phép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không cần biết khóa bí mật, không cần bẻ mật khẩu.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tấn công cụ thể (phạm vi đề tài)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52628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Kẻ tấn công nghe lén kênh MQTT (cổng 1883, plaintext), bắt gói tin UNLOCK hợp lệ, sau đó gửi lại y nguyên hoặc chỉnh sửa nội dung — thực hiện trong môi trường mô phỏng/lab, không tấn công hệ thống thật.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187452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0F1B3D"/>
          </a:solidFill>
          <a:ln/>
        </p:spPr>
      </p:sp>
      <p:sp>
        <p:nvSpPr>
          <p:cNvPr id="8" name="Shape 6"/>
          <p:cNvSpPr/>
          <p:nvPr/>
        </p:nvSpPr>
        <p:spPr>
          <a:xfrm>
            <a:off x="7452360" y="2286000"/>
            <a:ext cx="640080" cy="64008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Text 7"/>
          <p:cNvSpPr/>
          <p:nvPr/>
        </p:nvSpPr>
        <p:spPr>
          <a:xfrm>
            <a:off x="74523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75320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nguy hiểm?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0" y="3136392"/>
            <a:ext cx="109728" cy="10972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299008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phá khóa bí mật — chỉ cần ghi âm &amp; phát lại đúng bản tin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0" y="3913632"/>
            <a:ext cx="109728" cy="10972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376732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IoT giá rẻ thường thiếu cơ chế chống lặp (timestamp/nonce)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0" y="4690872"/>
            <a:ext cx="109728" cy="10972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45445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Hậu quả trực tiếp: mở khóa vật lý, xâm nhập nhà/cơ sở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VẤN ĐỀ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Bốn mục tiêu đo được của đề tài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MT-01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tích &amp; mô hình hóa nguy cơ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tree + STRIDE cho hệ thống khóa cửa IoT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9000" y="19202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2240280"/>
            <a:ext cx="502920" cy="502920"/>
          </a:xfrm>
          <a:prstGeom prst="ellipse">
            <a:avLst/>
          </a:prstGeom>
          <a:solidFill>
            <a:srgbClr val="293B5F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MT-02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03320" y="3154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cơ chế chống replay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03320" y="4114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+ Sequence Number + Nonce + HMAC-SHA256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19202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224028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MT-03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3154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Triển khai mô phỏng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 (ESP32) + Mosquitto + Python, thu log/ảnh minh chứng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89720" y="19202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33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64040" y="2240280"/>
            <a:ext cx="502920" cy="502920"/>
          </a:xfrm>
          <a:prstGeom prst="ellipse">
            <a:avLst/>
          </a:prstGeom>
          <a:solidFill>
            <a:srgbClr val="293B5F"/>
          </a:solidFill>
          <a:ln/>
        </p:spPr>
      </p:sp>
      <p:sp>
        <p:nvSpPr>
          <p:cNvPr id="24" name="Text 22"/>
          <p:cNvSpPr/>
          <p:nvPr/>
        </p:nvSpPr>
        <p:spPr>
          <a:xfrm>
            <a:off x="94640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6404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MT-04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64040" y="3154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Đánh giá hiệu quả bằng số liệu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64040" y="4114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tiêu chí đo được + ma trận rủi ro trước/sau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PHƯƠNG PHÁP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hóa mối đe dọa bằng Attack Tree &amp; STRIDE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Tree — Replay Attack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0F1B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Mở khóa trái phép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2514600"/>
            <a:ext cx="0" cy="320040"/>
          </a:xfrm>
          <a:prstGeom prst="line">
            <a:avLst/>
          </a:prstGeom>
          <a:noFill/>
          <a:ln w="19050">
            <a:solidFill>
              <a:srgbClr val="B7BE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2834640"/>
            <a:ext cx="-1143000" cy="0"/>
          </a:xfrm>
          <a:prstGeom prst="line">
            <a:avLst/>
          </a:prstGeom>
          <a:noFill/>
          <a:ln w="19050">
            <a:solidFill>
              <a:srgbClr val="B7BE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834640"/>
            <a:ext cx="13716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875">
            <a:solidFill>
              <a:srgbClr val="E457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34640"/>
            <a:ext cx="1371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gói tin hợp lệ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(sniffing MQTT)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2834640"/>
            <a:ext cx="822960" cy="0"/>
          </a:xfrm>
          <a:prstGeom prst="line">
            <a:avLst/>
          </a:prstGeom>
          <a:noFill/>
          <a:ln w="19050">
            <a:solidFill>
              <a:srgbClr val="B7B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2834640"/>
            <a:ext cx="13716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875">
            <a:solidFill>
              <a:srgbClr val="E457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2834640"/>
            <a:ext cx="1371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lại nguyên vẹn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(replay thuần)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68880" y="2834640"/>
            <a:ext cx="2788920" cy="0"/>
          </a:xfrm>
          <a:prstGeom prst="line">
            <a:avLst/>
          </a:prstGeom>
          <a:noFill/>
          <a:ln w="19050">
            <a:solidFill>
              <a:srgbClr val="B7BE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2834640"/>
            <a:ext cx="13716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875">
            <a:solidFill>
              <a:srgbClr val="E457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834640"/>
            <a:ext cx="1371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nội dung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(tampering)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" y="3794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Cả 3 nhánh đều khai thác việc thiếu yếu tố “tính tươi” (freshness) trong bản tin.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0936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Ánh xạ STRIDE (Bảng 2.1)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2011680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FDEAE4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2103120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195560" y="201168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TRỌNG TÂM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2633472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FDEAE4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2724912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26334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195560" y="2633472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TRỌNG TÂM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3255264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3346704"/>
            <a:ext cx="365760" cy="365760"/>
          </a:xfrm>
          <a:prstGeom prst="ellipse">
            <a:avLst/>
          </a:prstGeom>
          <a:solidFill>
            <a:srgbClr val="AAB4C6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49440" y="325526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Repudiation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09360" y="3877056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3968496"/>
            <a:ext cx="365760" cy="365760"/>
          </a:xfrm>
          <a:prstGeom prst="ellipse">
            <a:avLst/>
          </a:prstGeom>
          <a:solidFill>
            <a:srgbClr val="AAB4C6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49440" y="38770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Disclosure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09360" y="4498848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46520" y="4590288"/>
            <a:ext cx="365760" cy="365760"/>
          </a:xfrm>
          <a:prstGeom prst="ellipse">
            <a:avLst/>
          </a:prstGeom>
          <a:solidFill>
            <a:srgbClr val="AAB4C6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4590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49440" y="44988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309360" y="5120640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46520" y="5212080"/>
            <a:ext cx="365760" cy="365760"/>
          </a:xfrm>
          <a:prstGeom prst="ellipse">
            <a:avLst/>
          </a:prstGeom>
          <a:solidFill>
            <a:srgbClr val="AAB4C6"/>
          </a:solidFill>
          <a:ln/>
        </p:spPr>
      </p:sp>
      <p:sp>
        <p:nvSpPr>
          <p:cNvPr id="43" name="Text 41"/>
          <p:cNvSpPr/>
          <p:nvPr/>
        </p:nvSpPr>
        <p:spPr>
          <a:xfrm>
            <a:off x="644652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49440" y="5120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of Privilege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PHƯƠNG PHÁP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pháp: Cơ chế phòng thủ 4 lớp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bản tin UNLOCK/LOCK được gắn thêm 4 yếu tố trước khi gửi từ thiết bị đến Gateway (Hình 3.1)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0F1B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4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49808" y="320040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Timestamp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3794760"/>
            <a:ext cx="2203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Gắn mốc thời gian gửi; Gateway chỉ chấp nhận trong cửa sổ Δt ≤ 5 giây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3429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55848" y="205740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0F1B3D"/>
          </a:solidFill>
          <a:ln/>
        </p:spPr>
      </p:sp>
      <p:sp>
        <p:nvSpPr>
          <p:cNvPr id="11" name="Text 9"/>
          <p:cNvSpPr/>
          <p:nvPr/>
        </p:nvSpPr>
        <p:spPr>
          <a:xfrm>
            <a:off x="3355848" y="2286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4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557016" y="320040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Number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57016" y="3794760"/>
            <a:ext cx="2203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thứ tự tăng dần; phát hiện ngay gói phát lại có độ trễ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16168" y="3429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63056" y="205740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0F1B3D"/>
          </a:solidFill>
          <a:ln/>
        </p:spPr>
      </p:sp>
      <p:sp>
        <p:nvSpPr>
          <p:cNvPr id="16" name="Text 14"/>
          <p:cNvSpPr/>
          <p:nvPr/>
        </p:nvSpPr>
        <p:spPr>
          <a:xfrm>
            <a:off x="6163056" y="2286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4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364224" y="320040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64224" y="3794760"/>
            <a:ext cx="2203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ngẫu nhiên dùng 1 lần; chặn phát lại tức thì (cùng giây)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23376" y="3429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970264" y="205740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00B8A9"/>
          </a:solidFill>
          <a:ln/>
        </p:spPr>
      </p:sp>
      <p:sp>
        <p:nvSpPr>
          <p:cNvPr id="21" name="Text 19"/>
          <p:cNvSpPr/>
          <p:nvPr/>
        </p:nvSpPr>
        <p:spPr>
          <a:xfrm>
            <a:off x="8970264" y="2286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9171432" y="320040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HMAC-SHA256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71432" y="3794760"/>
            <a:ext cx="2203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ký từ khóa Kdev; phát hiện mọi sửa đổi nội dung (RFC 2104)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623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kiểm tra theo thứ tự ưu tiên trạng thái (Sequence/Nonce) trước khi tính HMAC — tiết kiệm tài nguyên khi loại gói lặp.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DEMO &amp; KẾT QUẢ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Môi trường triển khai mô phỏng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0F1B3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267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◧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bị IoT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182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 — mô phỏng ESP32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23360" y="25603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800600" y="21031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0F1B3D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2267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983480" y="2880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MQTT Broker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3182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Mosquitto — cổng 1883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01000" y="25603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778240" y="21031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0F1B3D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0" y="2267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961120" y="2880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61120" y="3182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gateway.py (xử lý chống replay)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32520" y="379476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DEAE4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0" y="3794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attacker.py / attacker_kb02.py / attacker_kb04.py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 &amp; thư viện sử dụng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029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 ESP32 Simulator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46120" y="5029200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5029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Mosquitto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0" y="5029200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5029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paho-mqtt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641080" y="5029200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41080" y="5029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PubSubClient / ArduinoJson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DEMO &amp; KẾT QUẢ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kịch bản thử nghiệm (Bảng 4.1)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0F1B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KB-01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tiếp hợp lệ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394460" y="3474720"/>
            <a:ext cx="1005840" cy="100584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9" name="Text 7"/>
          <p:cNvSpPr/>
          <p:nvPr/>
        </p:nvSpPr>
        <p:spPr>
          <a:xfrm>
            <a:off x="1394460" y="3474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0749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gửi lệnh đúng chuẩn — trường hợp bình thường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173736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73736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0F1B3D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737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KB-02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24231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lại có độ trễ (6s)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74820" y="3474720"/>
            <a:ext cx="1005840" cy="10058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5"/>
          <p:cNvSpPr/>
          <p:nvPr/>
        </p:nvSpPr>
        <p:spPr>
          <a:xfrm>
            <a:off x="4274820" y="3474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429000" y="4617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11880" y="50749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Chặn ở bước kiểm tra Sequence Number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173736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73736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0F1B3D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737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KB-03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24231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lại tức thì (cùng giây)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155180" y="3474720"/>
            <a:ext cx="1005840" cy="10058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3"/>
          <p:cNvSpPr/>
          <p:nvPr/>
        </p:nvSpPr>
        <p:spPr>
          <a:xfrm>
            <a:off x="7155180" y="3474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309360" y="4617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50749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còn hợp lệ nhưng bị chặn bởi Replay-cache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89720" y="173736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89720" y="173736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0F1B3D"/>
          </a:solidFill>
          <a:ln/>
        </p:spPr>
      </p:sp>
      <p:sp>
        <p:nvSpPr>
          <p:cNvPr id="30" name="Text 28"/>
          <p:cNvSpPr/>
          <p:nvPr/>
        </p:nvSpPr>
        <p:spPr>
          <a:xfrm>
            <a:off x="9189720" y="1737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KB-04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372600" y="24231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 mạo nội dung lệnh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0035540" y="3474720"/>
            <a:ext cx="1005840" cy="10058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3" name="Text 31"/>
          <p:cNvSpPr/>
          <p:nvPr/>
        </p:nvSpPr>
        <p:spPr>
          <a:xfrm>
            <a:off x="10035540" y="3474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9189720" y="4617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372600" y="50749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ký HMAC không khớp — phát hiện sửa đổi dữ liệu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DEMO &amp; KẾT QUẢ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thực nghiệm (Bảng 4.2)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0F1B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3/3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" y="3154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tấn công bị chặn đúng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(KB-02, KB-03, KB-04)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17720" y="187452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0F1B3D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1031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892040" y="3154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Tỉ lệ phát hiện / chặn đúng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(vượt ngưỡng đạt ≥ 90%)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0" y="187452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0F1B3D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21031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686800" y="3154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Tỉ lệ dương tính giả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(KB-01 không bị chặn nhầm)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343400"/>
            <a:ext cx="10515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thêm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484632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ưu tiên kiểm tra Sequence/Nonce trước khi tính HMAC-SHA256 → loại gói lặp gần như tức thời, tiết kiệm tài nguyên xử lý. Độ trễ chưa đo bằng công cụ benchmark chuyên dụng — quan sát log không ghi nhận timeout ở cả 4 kịch bản (xem thêm mục 4.6.2).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ĐÁNH GIÁ RỦI 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 trận rủi ro trước / sau (Bảng 5.3)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31520" cy="457200"/>
          </a:xfrm>
          <a:prstGeom prst="rect">
            <a:avLst/>
          </a:prstGeom>
          <a:solidFill>
            <a:srgbClr val="0F1B3D"/>
          </a:solidFill>
          <a:ln w="6350">
            <a:solidFill>
              <a:srgbClr val="F7F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80160" y="1737360"/>
            <a:ext cx="4206240" cy="457200"/>
          </a:xfrm>
          <a:prstGeom prst="rect">
            <a:avLst/>
          </a:prstGeom>
          <a:solidFill>
            <a:srgbClr val="0F1B3D"/>
          </a:solidFill>
          <a:ln w="6350">
            <a:solidFill>
              <a:srgbClr val="F7F8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737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1920240" cy="457200"/>
          </a:xfrm>
          <a:prstGeom prst="rect">
            <a:avLst/>
          </a:prstGeom>
          <a:solidFill>
            <a:srgbClr val="0F1B3D"/>
          </a:solidFill>
          <a:ln w="6350">
            <a:solidFill>
              <a:srgbClr val="F7F8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1737360"/>
            <a:ext cx="1920240" cy="457200"/>
          </a:xfrm>
          <a:prstGeom prst="rect">
            <a:avLst/>
          </a:prstGeom>
          <a:solidFill>
            <a:srgbClr val="0F1B3D"/>
          </a:solidFill>
          <a:ln w="635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326880" y="1737360"/>
            <a:ext cx="2286000" cy="457200"/>
          </a:xfrm>
          <a:prstGeom prst="rect">
            <a:avLst/>
          </a:prstGeom>
          <a:solidFill>
            <a:srgbClr val="0F1B3D"/>
          </a:solidFill>
          <a:ln w="6350">
            <a:solidFill>
              <a:srgbClr val="F7F8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194560"/>
            <a:ext cx="731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19456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280160" y="2194560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21945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khóa trái phép do replay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0" y="2194560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1945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06640" y="2194560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21945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326880" y="2194560"/>
            <a:ext cx="2286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0" y="21945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Giảm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2852928"/>
            <a:ext cx="731520" cy="658368"/>
          </a:xfrm>
          <a:prstGeom prst="rect">
            <a:avLst/>
          </a:prstGeom>
          <a:solidFill>
            <a:srgbClr val="F1F3F8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852928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280160" y="2852928"/>
            <a:ext cx="4206240" cy="658368"/>
          </a:xfrm>
          <a:prstGeom prst="rect">
            <a:avLst/>
          </a:prstGeom>
          <a:solidFill>
            <a:srgbClr val="F1F3F8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0160" y="2852928"/>
            <a:ext cx="4206240" cy="65836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 mạo lệnh điều khiển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0" y="2852928"/>
            <a:ext cx="1920240" cy="658368"/>
          </a:xfrm>
          <a:prstGeom prst="rect">
            <a:avLst/>
          </a:prstGeom>
          <a:solidFill>
            <a:srgbClr val="F1F3F8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285292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TB–Cao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406640" y="2852928"/>
            <a:ext cx="1920240" cy="658368"/>
          </a:xfrm>
          <a:prstGeom prst="rect">
            <a:avLst/>
          </a:prstGeom>
          <a:solidFill>
            <a:srgbClr val="F1F3F8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285292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Thấp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326880" y="2852928"/>
            <a:ext cx="2286000" cy="658368"/>
          </a:xfrm>
          <a:prstGeom prst="rect">
            <a:avLst/>
          </a:prstGeom>
          <a:solidFill>
            <a:srgbClr val="F1F3F8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0" y="285292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Giảm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3511296"/>
            <a:ext cx="731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511296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280160" y="3511296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80160" y="3511296"/>
            <a:ext cx="4206240" cy="65836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nội dung bản tin (nghe trộm)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486400" y="3511296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351129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406640" y="3511296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06640" y="351129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326880" y="3511296"/>
            <a:ext cx="2286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26880" y="351129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Không đổi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48640" y="4169664"/>
            <a:ext cx="731520" cy="658368"/>
          </a:xfrm>
          <a:prstGeom prst="rect">
            <a:avLst/>
          </a:prstGeom>
          <a:solidFill>
            <a:srgbClr val="F1F3F8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169664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1280160" y="4169664"/>
            <a:ext cx="4206240" cy="658368"/>
          </a:xfrm>
          <a:prstGeom prst="rect">
            <a:avLst/>
          </a:prstGeom>
          <a:solidFill>
            <a:srgbClr val="F1F3F8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80160" y="4169664"/>
            <a:ext cx="4206240" cy="65836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chối nhầm do trôi thời gian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486400" y="4169664"/>
            <a:ext cx="1920240" cy="658368"/>
          </a:xfrm>
          <a:prstGeom prst="rect">
            <a:avLst/>
          </a:prstGeom>
          <a:solidFill>
            <a:srgbClr val="F1F3F8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0" y="416966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Thấp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406640" y="4169664"/>
            <a:ext cx="1920240" cy="658368"/>
          </a:xfrm>
          <a:prstGeom prst="rect">
            <a:avLst/>
          </a:prstGeom>
          <a:solidFill>
            <a:srgbClr val="F1F3F8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06640" y="416966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Thấp–TB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9326880" y="4169664"/>
            <a:ext cx="2286000" cy="658368"/>
          </a:xfrm>
          <a:prstGeom prst="rect">
            <a:avLst/>
          </a:prstGeom>
          <a:solidFill>
            <a:srgbClr val="F1F3F8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6880" y="416966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Theo dõi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48640" y="4828032"/>
            <a:ext cx="731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4828032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1280160" y="4828032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280160" y="4828032"/>
            <a:ext cx="4206240" cy="65836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khóa Kdev qua firmware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5486400" y="4828032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0" y="482803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7406640" y="4828032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06640" y="482803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9326880" y="4828032"/>
            <a:ext cx="2286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26880" y="48280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Không đổi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548640" y="5486400"/>
            <a:ext cx="731520" cy="658368"/>
          </a:xfrm>
          <a:prstGeom prst="rect">
            <a:avLst/>
          </a:prstGeom>
          <a:solidFill>
            <a:srgbClr val="F1F3F8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54864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1280160" y="5486400"/>
            <a:ext cx="4206240" cy="658368"/>
          </a:xfrm>
          <a:prstGeom prst="rect">
            <a:avLst/>
          </a:prstGeom>
          <a:solidFill>
            <a:srgbClr val="F1F3F8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280160" y="54864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do quá tải Replay-cache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5486400" y="5486400"/>
            <a:ext cx="1920240" cy="658368"/>
          </a:xfrm>
          <a:prstGeom prst="rect">
            <a:avLst/>
          </a:prstGeom>
          <a:solidFill>
            <a:srgbClr val="F1F3F8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0" y="5486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Thấp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7406640" y="5486400"/>
            <a:ext cx="1920240" cy="658368"/>
          </a:xfrm>
          <a:prstGeom prst="rect">
            <a:avLst/>
          </a:prstGeom>
          <a:solidFill>
            <a:srgbClr val="F1F3F8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06640" y="5486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Thấp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9326880" y="5486400"/>
            <a:ext cx="2286000" cy="658368"/>
          </a:xfrm>
          <a:prstGeom prst="rect">
            <a:avLst/>
          </a:prstGeom>
          <a:solidFill>
            <a:srgbClr val="F1F3F8"/>
          </a:solidFill>
          <a:ln w="6350">
            <a:solidFill>
              <a:srgbClr val="E1E5E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326880" y="54864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Giảm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ĐÁNH GIÁ RỦI 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Biện pháp giảm thiểu &amp; rủi ro còn lại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9F8F6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057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Đã triển khai (R1, R2, R6)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798064"/>
            <a:ext cx="91440" cy="9144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651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+ Sequence + Nonce + HMAC-SHA256 trên mọi bản tin điều khiển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666744"/>
            <a:ext cx="91440" cy="9144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5204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Replay-cache lưu sequence/nonce đã dùng trong cửa sổ Δt ≤ 5s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535424"/>
            <a:ext cx="91440" cy="9144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3891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ACCEPT/REJECT đầy đủ device_id, sequence, timestamp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DEAE4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2011680"/>
            <a:ext cx="502920" cy="5029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178040" y="2057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Đề xuất bổ sung (R3, R4, R5)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37960" y="2798064"/>
            <a:ext cx="91440" cy="914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651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— TLS/mTLS cho kênh MQTT (chống nghe trộm nội dung)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3666744"/>
            <a:ext cx="91440" cy="914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5204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— Đồng bộ NTP định kỳ + cảnh báo khi trôi giờ vượt ngưỡng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4535424"/>
            <a:ext cx="91440" cy="914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43891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 — Lưu khóa Kdev trong secure element thay vì hardcode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KẾT LUẬN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4 mục tiêu (MT-01 → MT-04) đều đạt: mô hình hóa đầy đủ nguy cơ, thiết kế và triển khai thành công cơ chế chống replay, chặn 100% các kịch bản tấn công thử nghiệm với tỉ lệ dương tính giả 0%.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Phụ thuộc đồng bộ thời gian (NTP)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3101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Quản lý khóa Kdev còn thủ công (hardcode)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941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Chưa mã hóa nội dung bản tin (chỉ xác thực)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0782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Phạm vi thực nghiệm còn hẹp (mô phỏng, chưa thiết bị thật)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2514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35040" y="2926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Triển khai trên thiết bị ESP32 thật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33101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Bổ sung TLS/mTLS cho kênh MQTT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369417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Dashboard giám sát thời gian thực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407822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Mở rộng kịch bản thử nghiệm dưới tải cao/DDoS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446227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Giải pháp quản lý khóa an toàn hơn (secure element)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F1B3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2120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GitHub: github.com/NgAnh205/NgAnh-Chong-Replay-Attack-IoT — toàn bộ code, log, ảnh minh chứng theo từng kịch bản KB-01 → KB-04.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293B5F"/>
          </a:solidFill>
          <a:ln/>
        </p:spPr>
      </p:sp>
      <p:sp>
        <p:nvSpPr>
          <p:cNvPr id="3" name="Shape 1"/>
          <p:cNvSpPr/>
          <p:nvPr/>
        </p:nvSpPr>
        <p:spPr>
          <a:xfrm>
            <a:off x="10177272" y="4846320"/>
            <a:ext cx="3200400" cy="3200400"/>
          </a:xfrm>
          <a:prstGeom prst="ellipse">
            <a:avLst/>
          </a:prstGeom>
          <a:solidFill>
            <a:srgbClr val="1A2A5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thầy và các bạn đã lắng nghe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đáp (Q&amp;A)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24 · Chống Replay Attack trong Giao tiếp IoT
</a:t>
            </a:r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Ngọc Anh — 231A010382 — Lớp 253INT441001
</a:t>
            </a:r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Hồ Nhựt Minh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2026-08-02T16:15:22Z</dcterms:created>
  <dcterms:modified xsi:type="dcterms:W3CDTF">2026-08-02T16:15:22Z</dcterms:modified>
</cp:coreProperties>
</file>